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  <p:sldId id="261" r:id="rId5"/>
    <p:sldId id="263" r:id="rId6"/>
    <p:sldId id="265" r:id="rId7"/>
    <p:sldId id="266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5150AD-A3D5-45AE-B106-DC1937A84E9D}" v="22" dt="2025-12-23T04:25:44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AA835D-87FE-64F6-EB1E-17C99CF3DD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4EFE69D-C754-CFDF-38A4-BCE185935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7756CF-5429-907E-0A3C-AF359624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920D2-A29E-4A1D-5536-CA799F612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651B5D-341B-7E7A-0740-225773ED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828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CB2078-8B46-53C5-FC45-C13D46DC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BD4B09-9B20-F322-1589-980801CE2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F0DAAC-90CC-71F8-6C3A-52D7790ED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D08E67-D93C-CD60-AB04-9F2C637B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4AEE2C-6932-E689-9D84-411E2985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327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3605B-F8D3-337D-C5DB-347ECD12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11FCD-AAE1-29C3-4277-8F5A2DF00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E8C3A-FB47-20E7-B04F-6C6378E6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F96E53-218B-A791-7FA6-1ED603270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0E4CA-9E5E-A631-577B-F2E45EB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5C587-98DD-02E6-5411-2B85FBBC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141717-8558-9F39-CAE9-232792F828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0D36D9-6549-C4CB-1BC4-0F1DF3989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E93058-6CE0-B16E-7D9B-5F951200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11BDF0-26B6-B7D4-F188-58272F43E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F29365-A7BC-F8F0-94A6-CAC836BC9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700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3324B-7874-77E7-CF86-1481D46B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3AD87-6E3D-92F1-B5B6-72443A384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5F5F8B-A0F4-A289-F4BB-3D6CF1DD5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D77077E-18ED-6FCE-D556-7EEE0034EC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A8F3331-B1C0-1825-2156-E5E1C3A3B0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6C4942B-C293-235D-0893-28BC5DB83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F2D73DF-BFA5-48DA-2AF5-8315BC8A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2FC0D0-4053-A3B1-0C4D-6F396A485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476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88857-146D-F5E9-4BDB-1FDC3425C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529201A-4884-BE86-A6FD-6E4CF38B8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A51E93-0C1B-B1A0-AB14-397D493A2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4332AE-095A-ACD5-CA03-B086BC5C5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6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2CE35B-1B66-35FF-E8F7-D1092A92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41224E-52C0-6DD9-8596-75BD29F14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FB910-F781-64DD-C2AF-9AEA64D8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47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CAA2-95AA-240A-4AB8-6192D076D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9C099E-9E21-EC58-FB3A-624E29B4D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D894BC-4A37-544E-DDB0-F849FB7A3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4E4733-8A10-603D-38DE-C88A8170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A6480A-DE53-0C94-2152-FAC091BB6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B47358-7A09-6E96-F0FD-F8F8B97D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4963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CFF5D-3958-CCCE-158C-E39DBA5CF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8D8BD31-D2BF-E2FD-F7E9-37ACB92B4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C1F5-020F-91EA-1DD0-5134A52D9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E37A906-B4F4-8B58-9E97-A048A4EE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4625BA-F543-4520-559B-B2CBD360A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A77E29-E9A6-C30D-AEC8-51CD8E19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549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016FB-8646-AA5C-1682-C06CEB26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1E0E20-58E2-EFA9-AA61-9EB251BB8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82A63B-698F-438F-4748-FC102D4C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C6EA2C-7B87-4C36-7C40-0ADAD069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84A8A3-7CC3-1718-CACF-7B6C2B1F6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61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65DEE21-60C6-8D3C-B2C3-F2ACFC498F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ACE7F-FF61-CF37-5BF8-F75D6DB3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C1EFC4-D531-496B-3645-87A78B144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BEFA90-FF73-9486-82AD-254C9577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8E2157-FD39-F1AD-0BC1-5946FFCA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68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22542EC-FE4B-7796-614D-1CC211F8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A36EF6-64CA-BC0D-F2A9-9E8B2A696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881FF3-AA93-9A8C-8B0C-1842D7AC5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88F63A-79B6-45B8-9C62-1BB57C660AE6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A6209A-44BB-221B-CF60-8B171781EA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6D44E5-767F-EA00-D507-B78FE7CF5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65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1433260-80A9-512E-B253-AA75783E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kumimoji="1" lang="ja-JP" altLang="en-US" sz="6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データベース最終課題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3AC133F-7DC6-B18F-6803-04CF72D07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0" y="2969469"/>
            <a:ext cx="8074815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伊比悠幹</a:t>
            </a:r>
            <a:r>
              <a:rPr lang="en-US" altLang="ja-JP" dirty="0"/>
              <a:t>2442009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出島由基</a:t>
            </a:r>
            <a:r>
              <a:rPr lang="en-US" altLang="ja-JP" dirty="0"/>
              <a:t>2442058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笹川悠互</a:t>
            </a:r>
            <a:r>
              <a:rPr lang="en-US" altLang="ja-JP" dirty="0"/>
              <a:t>2442036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シンジハオ</a:t>
            </a:r>
            <a:r>
              <a:rPr lang="en-US" altLang="ja-JP" dirty="0"/>
              <a:t>2442041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正岡拳士</a:t>
            </a:r>
            <a:r>
              <a:rPr lang="en-US" altLang="ja-JP" dirty="0"/>
              <a:t>2442079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03672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96E7377-60C9-D5C8-A3B2-E535F0B46148}"/>
              </a:ext>
            </a:extLst>
          </p:cNvPr>
          <p:cNvSpPr txBox="1"/>
          <p:nvPr/>
        </p:nvSpPr>
        <p:spPr>
          <a:xfrm>
            <a:off x="1285241" y="1008993"/>
            <a:ext cx="9231410" cy="354204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作成するアプリケーション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ja-JP" sz="29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2900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お勧めゲームを教えてくれるアプリ</a:t>
            </a:r>
            <a:endParaRPr lang="en-US" altLang="ja-JP" sz="2900" b="1" u="sng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ja-JP" sz="29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29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データベースに大量のゲームのデータがあり、やりたいジャンルを入力すると人気順にゲームが列挙される。年代、ハードウェアの数値指定をすると指定したゲームが列挙される。</a:t>
            </a:r>
            <a:endParaRPr lang="en-US" altLang="ja-JP" sz="29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97591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B05BB-3757-F196-3AAA-72BCE0B3C993}"/>
              </a:ext>
            </a:extLst>
          </p:cNvPr>
          <p:cNvSpPr txBox="1"/>
          <p:nvPr/>
        </p:nvSpPr>
        <p:spPr>
          <a:xfrm>
            <a:off x="1363531" y="0"/>
            <a:ext cx="1841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ペルソナ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9EDEE12-CED6-7F9D-32AB-3D6A036D1CB4}"/>
              </a:ext>
            </a:extLst>
          </p:cNvPr>
          <p:cNvSpPr txBox="1"/>
          <p:nvPr/>
        </p:nvSpPr>
        <p:spPr>
          <a:xfrm>
            <a:off x="636758" y="3309209"/>
            <a:ext cx="59153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名前：木村 吉衛門</a:t>
            </a:r>
            <a:endParaRPr kumimoji="1" lang="en-US" altLang="ja-JP" sz="2400" dirty="0"/>
          </a:p>
          <a:p>
            <a:r>
              <a:rPr lang="ja-JP" altLang="en-US" sz="2400" dirty="0"/>
              <a:t>年齢：</a:t>
            </a:r>
            <a:r>
              <a:rPr lang="en-US" altLang="ja-JP" sz="2400" dirty="0"/>
              <a:t>28</a:t>
            </a:r>
          </a:p>
          <a:p>
            <a:r>
              <a:rPr kumimoji="1" lang="ja-JP" altLang="en-US" sz="2400" dirty="0"/>
              <a:t>職業：家電屋勤務</a:t>
            </a:r>
            <a:endParaRPr lang="en-US" altLang="ja-JP" sz="2400" dirty="0"/>
          </a:p>
          <a:p>
            <a:r>
              <a:rPr kumimoji="1" lang="ja-JP" altLang="en-US" sz="2400" dirty="0"/>
              <a:t>年収：</a:t>
            </a:r>
            <a:r>
              <a:rPr kumimoji="1" lang="en-US" altLang="ja-JP" sz="2400" dirty="0"/>
              <a:t>340</a:t>
            </a:r>
            <a:r>
              <a:rPr kumimoji="1" lang="ja-JP" altLang="en-US" sz="2400" dirty="0"/>
              <a:t>万</a:t>
            </a:r>
            <a:endParaRPr kumimoji="1" lang="en-US" altLang="ja-JP" sz="2400" dirty="0"/>
          </a:p>
          <a:p>
            <a:r>
              <a:rPr lang="ja-JP" altLang="en-US" sz="2400" dirty="0"/>
              <a:t>居住地：東京都世田谷区</a:t>
            </a:r>
            <a:endParaRPr lang="en-US" altLang="ja-JP" sz="2400" dirty="0"/>
          </a:p>
          <a:p>
            <a:r>
              <a:rPr lang="ja-JP" altLang="en-US" sz="2400" dirty="0"/>
              <a:t>未既婚等：未婚・一人暮らし</a:t>
            </a:r>
            <a:endParaRPr lang="en-US" altLang="ja-JP" sz="2400" dirty="0"/>
          </a:p>
          <a:p>
            <a:r>
              <a:rPr lang="ja-JP" altLang="en-US" sz="2400" dirty="0"/>
              <a:t>最終学歴：東京都市大学</a:t>
            </a:r>
            <a:endParaRPr lang="en-US" altLang="ja-JP" sz="2400" dirty="0"/>
          </a:p>
          <a:p>
            <a:r>
              <a:rPr lang="ja-JP" altLang="en-US" sz="2400" dirty="0"/>
              <a:t>趣味：ゲーム</a:t>
            </a:r>
            <a:endParaRPr lang="en-US" altLang="ja-JP" sz="2400" dirty="0"/>
          </a:p>
          <a:p>
            <a:r>
              <a:rPr lang="ja-JP" altLang="en-US" sz="2400" dirty="0"/>
              <a:t>好きなゲーム系統：</a:t>
            </a:r>
            <a:r>
              <a:rPr lang="en-US" altLang="ja-JP" sz="2400" dirty="0" err="1"/>
              <a:t>Hoyoverse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9DCECF1-10A4-4752-7870-CD532C091FC2}"/>
              </a:ext>
            </a:extLst>
          </p:cNvPr>
          <p:cNvSpPr txBox="1"/>
          <p:nvPr/>
        </p:nvSpPr>
        <p:spPr>
          <a:xfrm>
            <a:off x="4093980" y="726288"/>
            <a:ext cx="8019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自分に合うゲームを探したいゲーマー</a:t>
            </a:r>
            <a:endParaRPr lang="en-US" altLang="ja-JP" sz="3600" b="1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B19C32-E85F-E6B7-D7DA-8EFA5771E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74" y="464874"/>
            <a:ext cx="2932580" cy="27678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CD76F30-A5B2-0E25-3BD6-1632AAB2FD00}"/>
              </a:ext>
            </a:extLst>
          </p:cNvPr>
          <p:cNvSpPr txBox="1"/>
          <p:nvPr/>
        </p:nvSpPr>
        <p:spPr>
          <a:xfrm>
            <a:off x="5174731" y="1560200"/>
            <a:ext cx="638051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u="sng" dirty="0"/>
              <a:t>価値観</a:t>
            </a:r>
            <a:endParaRPr kumimoji="1" lang="en-US" altLang="ja-JP" sz="2000" b="1" u="sng" dirty="0"/>
          </a:p>
          <a:p>
            <a:r>
              <a:rPr kumimoji="1" lang="ja-JP" altLang="en-US" sz="2000" dirty="0"/>
              <a:t>流行には敏感だが自分に合わないものは無理にやらない。</a:t>
            </a:r>
            <a:r>
              <a:rPr lang="ja-JP" altLang="en-US" sz="2000" dirty="0"/>
              <a:t>効率重視で、失敗（時間やお金の無駄）を嫌う。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b="1" u="sng" dirty="0"/>
              <a:t>ゲームをする動機</a:t>
            </a:r>
            <a:endParaRPr lang="en-US" altLang="ja-JP" sz="2000" b="1" u="sng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2000" dirty="0">
                <a:latin typeface="Arial" panose="020B0604020202020204" pitchFamily="34" charset="0"/>
              </a:rPr>
              <a:t>話題作を遊ぶことで、友人やSNSでの共通の話題を持ちたい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r>
              <a:rPr kumimoji="0" lang="ja-JP" altLang="ja-JP" sz="2000" dirty="0">
                <a:latin typeface="Arial" panose="020B0604020202020204" pitchFamily="34" charset="0"/>
              </a:rPr>
              <a:t>ただし、「合わないゲームを選んでしまうとすぐにやめてしまう」という失敗経験がある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endParaRPr kumimoji="0" lang="en-US" altLang="ja-JP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ja-JP" sz="2000" b="1" dirty="0">
              <a:latin typeface="Arial" panose="020B0604020202020204" pitchFamily="34" charset="0"/>
            </a:endParaRPr>
          </a:p>
          <a:p>
            <a:r>
              <a:rPr lang="ja-JP" altLang="en-US" sz="2000" b="1" u="sng" dirty="0"/>
              <a:t>ゲームに求めること</a:t>
            </a:r>
          </a:p>
          <a:p>
            <a:r>
              <a:rPr lang="ja-JP" altLang="en-US" sz="2000" dirty="0"/>
              <a:t>自分の好みに合っていること。人気がある・評価が高いこと。</a:t>
            </a:r>
          </a:p>
          <a:p>
            <a:r>
              <a:rPr lang="ja-JP" altLang="en-US" sz="2000" dirty="0"/>
              <a:t>ジャンル・年代・ハードを絞って効率よく探せること。グラフィックや世界観が綺麗であること。スマホ・</a:t>
            </a:r>
            <a:r>
              <a:rPr lang="en-US" altLang="ja-JP" sz="2000" dirty="0"/>
              <a:t>PC</a:t>
            </a:r>
            <a:r>
              <a:rPr lang="ja-JP" altLang="en-US" sz="2000" dirty="0"/>
              <a:t>・家庭用など、自分の環境で遊べるかが一目でわかること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ja-JP" altLang="ja-JP" sz="2000" dirty="0">
              <a:latin typeface="Arial" panose="020B0604020202020204" pitchFamily="34" charset="0"/>
            </a:endParaRPr>
          </a:p>
          <a:p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96EEBF-80C3-D4DA-5904-5C6C5AB65F2A}"/>
              </a:ext>
            </a:extLst>
          </p:cNvPr>
          <p:cNvSpPr/>
          <p:nvPr/>
        </p:nvSpPr>
        <p:spPr>
          <a:xfrm>
            <a:off x="498470" y="3350909"/>
            <a:ext cx="156720" cy="333292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F5841C6-26E0-23E9-B979-5620E3F15217}"/>
              </a:ext>
            </a:extLst>
          </p:cNvPr>
          <p:cNvSpPr/>
          <p:nvPr/>
        </p:nvSpPr>
        <p:spPr>
          <a:xfrm>
            <a:off x="4234543" y="726288"/>
            <a:ext cx="7761514" cy="569112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1119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3DE88F12-D1FF-ADB6-E283-D8AA589BD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21386"/>
              </p:ext>
            </p:extLst>
          </p:nvPr>
        </p:nvGraphicFramePr>
        <p:xfrm>
          <a:off x="643465" y="1060847"/>
          <a:ext cx="10905069" cy="4822183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</a:tblPr>
              <a:tblGrid>
                <a:gridCol w="843351">
                  <a:extLst>
                    <a:ext uri="{9D8B030D-6E8A-4147-A177-3AD203B41FA5}">
                      <a16:colId xmlns:a16="http://schemas.microsoft.com/office/drawing/2014/main" val="4169442785"/>
                    </a:ext>
                  </a:extLst>
                </a:gridCol>
                <a:gridCol w="2607483">
                  <a:extLst>
                    <a:ext uri="{9D8B030D-6E8A-4147-A177-3AD203B41FA5}">
                      <a16:colId xmlns:a16="http://schemas.microsoft.com/office/drawing/2014/main" val="149999220"/>
                    </a:ext>
                  </a:extLst>
                </a:gridCol>
                <a:gridCol w="2382158">
                  <a:extLst>
                    <a:ext uri="{9D8B030D-6E8A-4147-A177-3AD203B41FA5}">
                      <a16:colId xmlns:a16="http://schemas.microsoft.com/office/drawing/2014/main" val="469688059"/>
                    </a:ext>
                  </a:extLst>
                </a:gridCol>
                <a:gridCol w="2382158">
                  <a:extLst>
                    <a:ext uri="{9D8B030D-6E8A-4147-A177-3AD203B41FA5}">
                      <a16:colId xmlns:a16="http://schemas.microsoft.com/office/drawing/2014/main" val="1658378334"/>
                    </a:ext>
                  </a:extLst>
                </a:gridCol>
                <a:gridCol w="2689919">
                  <a:extLst>
                    <a:ext uri="{9D8B030D-6E8A-4147-A177-3AD203B41FA5}">
                      <a16:colId xmlns:a16="http://schemas.microsoft.com/office/drawing/2014/main" val="1820060432"/>
                    </a:ext>
                  </a:extLst>
                </a:gridCol>
              </a:tblGrid>
              <a:tr h="37459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フェーズ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① 課題認識・検索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② アプリ導入・検索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③ 選定・購入決断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④ プレイ・共有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6451650"/>
                  </a:ext>
                </a:extLst>
              </a:tr>
              <a:tr h="203650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行動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・話題作を探すが情報過多で選べない。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・過去の失敗（金と時間の無駄）を思い出して躊躇。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・仕事が忙しくリサーチが面倒。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・アプリにアクセス。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・「アクション」「</a:t>
                      </a:r>
                      <a:r>
                        <a:rPr lang="en-US" altLang="ja-JP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PC</a:t>
                      </a: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で検索。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・人気順でソート。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・好みのグラフィックを確認。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・「自分の</a:t>
                      </a:r>
                      <a:r>
                        <a:rPr lang="en-US" altLang="ja-JP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PC</a:t>
                      </a: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で動く」と一目で分かり安心。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・年代指定で最新作と確認し購入。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・好みにドンピシャなゲームだった。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・無駄なく週末に没頭。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・友人や</a:t>
                      </a:r>
                      <a:r>
                        <a:rPr lang="en-US" altLang="ja-JP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SNS</a:t>
                      </a: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で話題を共有。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・「次もこのアプリで」と思う。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3914930"/>
                  </a:ext>
                </a:extLst>
              </a:tr>
              <a:tr h="11132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感情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　　　　　（不満・不安）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「またクソゲー引いたら嫌だな</a:t>
                      </a:r>
                      <a:r>
                        <a:rPr lang="en-US" altLang="ja-JP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…</a:t>
                      </a: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。</a:t>
                      </a:r>
                      <a:r>
                        <a:rPr lang="en-US" altLang="ja-JP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3000</a:t>
                      </a: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円もドブに捨てたくない。」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　　　　　　（期待）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「これなら効率よく探せそう。人気順で見れるのは助かる。」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　　　　　（納得・安心）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「これこれ！スペック不足の心配もないし間違いない。」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　　　　　（満足・歓喜）</a:t>
                      </a: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「最高！時間を無駄にせず当たりを引けた。コスパもタイパも良い。」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480446"/>
                  </a:ext>
                </a:extLst>
              </a:tr>
              <a:tr h="129787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インサイト</a:t>
                      </a: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102880" marR="31244" marT="79139" marB="79139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</a:t>
                      </a:r>
                      <a:r>
                        <a:rPr lang="en-US" altLang="ja-JP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SNS</a:t>
                      </a: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のおすすめ＝自分への正解とは限らない。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・失敗経験が新しいゲームへのハードルになっている。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・「効率重視」には情報の網羅より「絞り込み」が必要。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・好みの系統を軸にできるかが鍵。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・「動くかわからない」不安の解消が購入の決め手。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・人気順は失敗しないための安心材料。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・趣味の時間こそ「効率」が大事。</a:t>
                      </a:r>
                    </a:p>
                    <a:p>
                      <a:pPr rtl="0">
                        <a:buNone/>
                      </a:pPr>
                      <a:b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</a:br>
                      <a:endParaRPr lang="ja-JP" altLang="en-US" sz="12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2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・共通の話題がゲーマーとしての充足感。</a:t>
                      </a:r>
                    </a:p>
                  </a:txBody>
                  <a:tcPr marL="102880" marR="31244" marT="79139" marB="79139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2955329"/>
                  </a:ext>
                </a:extLst>
              </a:tr>
            </a:tbl>
          </a:graphicData>
        </a:graphic>
      </p:graphicFrame>
      <p:pic>
        <p:nvPicPr>
          <p:cNvPr id="4" name="グラフィックス 3" descr="悲しい顔 (塗りつぶしなし) 単色塗りつぶし">
            <a:extLst>
              <a:ext uri="{FF2B5EF4-FFF2-40B4-BE49-F238E27FC236}">
                <a16:creationId xmlns:a16="http://schemas.microsoft.com/office/drawing/2014/main" id="{211F5CF5-742F-1A07-2E9C-DF6FA6AF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54629" y="3526973"/>
            <a:ext cx="446314" cy="446314"/>
          </a:xfrm>
          <a:prstGeom prst="rect">
            <a:avLst/>
          </a:prstGeom>
        </p:spPr>
      </p:pic>
      <p:pic>
        <p:nvPicPr>
          <p:cNvPr id="10" name="グラフィックス 9" descr="笑顔 (塗りつぶしなし) 単色塗りつぶし">
            <a:extLst>
              <a:ext uri="{FF2B5EF4-FFF2-40B4-BE49-F238E27FC236}">
                <a16:creationId xmlns:a16="http://schemas.microsoft.com/office/drawing/2014/main" id="{4B17D397-D23F-B7D0-C804-3F5025DC9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9467" y="3516087"/>
            <a:ext cx="457200" cy="457200"/>
          </a:xfrm>
          <a:prstGeom prst="rect">
            <a:avLst/>
          </a:prstGeom>
        </p:spPr>
      </p:pic>
      <p:pic>
        <p:nvPicPr>
          <p:cNvPr id="12" name="グラフィックス 11" descr="サングラスをかけた顔 (塗りつぶしなし) 単色塗りつぶし">
            <a:extLst>
              <a:ext uri="{FF2B5EF4-FFF2-40B4-BE49-F238E27FC236}">
                <a16:creationId xmlns:a16="http://schemas.microsoft.com/office/drawing/2014/main" id="{A829A64B-80B3-13C4-5DEC-68BF4E268C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2468" y="3471939"/>
            <a:ext cx="501348" cy="501348"/>
          </a:xfrm>
          <a:prstGeom prst="rect">
            <a:avLst/>
          </a:prstGeom>
        </p:spPr>
      </p:pic>
      <p:pic>
        <p:nvPicPr>
          <p:cNvPr id="14" name="グラフィックス 13" descr="面白い顔 (塗りつぶしなし) 単色塗りつぶし">
            <a:extLst>
              <a:ext uri="{FF2B5EF4-FFF2-40B4-BE49-F238E27FC236}">
                <a16:creationId xmlns:a16="http://schemas.microsoft.com/office/drawing/2014/main" id="{7B6568A3-DFE9-0E6B-44F3-026436B07C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52984" y="3471939"/>
            <a:ext cx="501348" cy="501348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52B42B-9503-07A7-0DD3-6F341D1A14EE}"/>
              </a:ext>
            </a:extLst>
          </p:cNvPr>
          <p:cNvSpPr txBox="1"/>
          <p:nvPr/>
        </p:nvSpPr>
        <p:spPr>
          <a:xfrm>
            <a:off x="533399" y="152916"/>
            <a:ext cx="46987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400" dirty="0"/>
              <a:t>ストーリーボード</a:t>
            </a:r>
            <a:endParaRPr kumimoji="1" lang="ja-JP" altLang="en-US" sz="4400" dirty="0"/>
          </a:p>
        </p:txBody>
      </p:sp>
    </p:spTree>
    <p:extLst>
      <p:ext uri="{BB962C8B-B14F-4D97-AF65-F5344CB8AC3E}">
        <p14:creationId xmlns:p14="http://schemas.microsoft.com/office/powerpoint/2010/main" val="1223783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763599-8CB5-B9D3-BF58-45E53033E87D}"/>
              </a:ext>
            </a:extLst>
          </p:cNvPr>
          <p:cNvSpPr txBox="1"/>
          <p:nvPr/>
        </p:nvSpPr>
        <p:spPr>
          <a:xfrm>
            <a:off x="1285240" y="1050595"/>
            <a:ext cx="8074815" cy="1618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機能要件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3E6E56-1A45-0857-1C9C-11E272C4C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5240" y="296946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2400" b="1" i="0" u="none" strike="noStrike" cap="none" normalizeH="0" baseline="0" dirty="0">
                <a:ln>
                  <a:noFill/>
                </a:ln>
                <a:effectLst/>
              </a:rPr>
              <a:t>検索・抽出機能</a:t>
            </a:r>
            <a:endParaRPr kumimoji="0" lang="en-US" altLang="ja-JP" sz="2400" b="1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ja-JP" sz="24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kumimoji="0" lang="ja-JP" altLang="en-US" sz="2400" b="0" i="0" u="none" strike="noStrike" cap="none" normalizeH="0" baseline="0" dirty="0">
                <a:ln>
                  <a:noFill/>
                </a:ln>
                <a:effectLst/>
              </a:rPr>
              <a:t>ユーザーが</a:t>
            </a:r>
            <a:r>
              <a:rPr kumimoji="0" lang="ja-JP" altLang="en-US" sz="2400" b="1" i="0" u="none" strike="noStrike" cap="none" normalizeH="0" baseline="0" dirty="0">
                <a:ln>
                  <a:noFill/>
                </a:ln>
                <a:effectLst/>
              </a:rPr>
              <a:t>ジャンル</a:t>
            </a:r>
            <a:r>
              <a:rPr kumimoji="0" lang="ja-JP" altLang="en-US" sz="2400" b="0" i="0" u="none" strike="noStrike" cap="none" normalizeH="0" baseline="0" dirty="0">
                <a:ln>
                  <a:noFill/>
                </a:ln>
                <a:effectLst/>
              </a:rPr>
              <a:t>や</a:t>
            </a:r>
            <a:r>
              <a:rPr kumimoji="0" lang="ja-JP" altLang="en-US" sz="2400" b="1" i="0" u="none" strike="noStrike" cap="none" normalizeH="0" baseline="0" dirty="0">
                <a:ln>
                  <a:noFill/>
                </a:ln>
                <a:effectLst/>
              </a:rPr>
              <a:t>プレイスタイル</a:t>
            </a:r>
            <a:r>
              <a:rPr kumimoji="0" lang="ja-JP" altLang="en-US" sz="2400" dirty="0"/>
              <a:t>、</a:t>
            </a:r>
            <a:r>
              <a:rPr kumimoji="0" lang="ja-JP" altLang="en-US" sz="2400" b="1" i="0" u="none" strike="noStrike" cap="none" normalizeH="0" baseline="0" dirty="0">
                <a:ln>
                  <a:noFill/>
                </a:ln>
                <a:effectLst/>
              </a:rPr>
              <a:t>プラットフォーム</a:t>
            </a:r>
            <a:r>
              <a:rPr kumimoji="0" lang="ja-JP" altLang="en-US" sz="2400" dirty="0"/>
              <a:t>、</a:t>
            </a:r>
            <a:r>
              <a:rPr kumimoji="0" lang="ja-JP" altLang="en-US" sz="2400" b="1" i="0" u="none" strike="noStrike" cap="none" normalizeH="0" baseline="0" dirty="0">
                <a:ln>
                  <a:noFill/>
                </a:ln>
                <a:effectLst/>
              </a:rPr>
              <a:t>国</a:t>
            </a:r>
            <a:r>
              <a:rPr kumimoji="0" lang="ja-JP" altLang="en-US" sz="2400" b="0" i="0" u="none" strike="noStrike" cap="none" normalizeH="0" baseline="0" dirty="0">
                <a:ln>
                  <a:noFill/>
                </a:ln>
                <a:effectLst/>
              </a:rPr>
              <a:t>を選択するとデータベース内の大量のゲームデータから、人気順でゲームを列挙する</a:t>
            </a:r>
            <a:endParaRPr kumimoji="0" lang="en-US" altLang="ja-JP" sz="24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66189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233C0-073B-FE2B-DA18-BD54556C8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C144E5-6196-EB22-4967-53BAB65F0316}"/>
              </a:ext>
            </a:extLst>
          </p:cNvPr>
          <p:cNvSpPr txBox="1"/>
          <p:nvPr/>
        </p:nvSpPr>
        <p:spPr>
          <a:xfrm>
            <a:off x="1285240" y="1050595"/>
            <a:ext cx="8074815" cy="1618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ja-JP" altLang="en-US" sz="7200" dirty="0"/>
              <a:t>データ要件</a:t>
            </a:r>
            <a:endParaRPr kumimoji="0" lang="en-US" altLang="ja-JP" sz="7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640651A-A064-40AD-039F-F40CAE90F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5240" y="2788719"/>
            <a:ext cx="8074815" cy="280039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 lnSpcReduction="10000"/>
          </a:bodyPr>
          <a:lstStyle/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ja-JP" altLang="en-US" sz="3200" b="1" dirty="0"/>
              <a:t>ゲーム基本情報</a:t>
            </a:r>
            <a:r>
              <a:rPr kumimoji="0" lang="en-US" altLang="ja-JP" sz="3200" b="1" dirty="0"/>
              <a:t>:</a:t>
            </a:r>
            <a:r>
              <a:rPr kumimoji="0" lang="en-US" altLang="ja-JP" sz="3200" dirty="0"/>
              <a:t> </a:t>
            </a:r>
            <a:r>
              <a:rPr kumimoji="0" lang="ja-JP" altLang="en-US" sz="3200" dirty="0"/>
              <a:t>タイトル、発売日、価格、ジャンル、グラフィック画像 、国、タグ、説明文、プラットフォーム</a:t>
            </a:r>
            <a:endParaRPr kumimoji="0" lang="en-US" altLang="ja-JP" sz="3200" dirty="0"/>
          </a:p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kumimoji="0" lang="ja-JP" altLang="en-US" sz="3200" dirty="0"/>
          </a:p>
          <a:p>
            <a:pPr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ja-JP" altLang="en-US" sz="3200" b="1" dirty="0"/>
              <a:t>人気・評価指標</a:t>
            </a:r>
            <a:r>
              <a:rPr kumimoji="0" lang="en-US" altLang="ja-JP" sz="3200" b="1" dirty="0"/>
              <a:t>:</a:t>
            </a:r>
            <a:r>
              <a:rPr kumimoji="0" lang="en-US" altLang="ja-JP" sz="3200" dirty="0"/>
              <a:t> </a:t>
            </a:r>
            <a:r>
              <a:rPr kumimoji="0" lang="ja-JP" altLang="en-US" sz="3200" dirty="0"/>
              <a:t>人気順位、ユーザー評価スコア </a:t>
            </a:r>
            <a:endParaRPr kumimoji="0" lang="en-US" altLang="ja-JP" sz="32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79575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E91F422-0962-FB71-883E-572CDF756F2B}"/>
              </a:ext>
            </a:extLst>
          </p:cNvPr>
          <p:cNvGrpSpPr/>
          <p:nvPr/>
        </p:nvGrpSpPr>
        <p:grpSpPr>
          <a:xfrm>
            <a:off x="337457" y="2024741"/>
            <a:ext cx="5758543" cy="4136573"/>
            <a:chOff x="1524000" y="0"/>
            <a:chExt cx="9144000" cy="6858000"/>
          </a:xfrm>
        </p:grpSpPr>
        <p:pic>
          <p:nvPicPr>
            <p:cNvPr id="3" name="図 2" descr="デスクトップコンピューターのモニター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A7A648A-666C-4FBE-959C-DB78D9C7C2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4000" y="0"/>
              <a:ext cx="9144000" cy="6858000"/>
            </a:xfrm>
            <a:prstGeom prst="rect">
              <a:avLst/>
            </a:prstGeom>
          </p:spPr>
        </p:pic>
        <p:pic>
          <p:nvPicPr>
            <p:cNvPr id="5" name="図 4" descr="グラフィカル ユーザー インターフェイス, アプリケーション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74E42F4-17F0-164C-39D5-FF4D74EF55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9686" y="609601"/>
              <a:ext cx="8583385" cy="4279720"/>
            </a:xfrm>
            <a:prstGeom prst="rect">
              <a:avLst/>
            </a:prstGeom>
          </p:spPr>
        </p:pic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395D4A8-4861-D096-48A0-D9829BD4825E}"/>
              </a:ext>
            </a:extLst>
          </p:cNvPr>
          <p:cNvGrpSpPr/>
          <p:nvPr/>
        </p:nvGrpSpPr>
        <p:grpSpPr>
          <a:xfrm>
            <a:off x="6294807" y="2024741"/>
            <a:ext cx="5758543" cy="4136573"/>
            <a:chOff x="6294807" y="2024741"/>
            <a:chExt cx="5758543" cy="4136573"/>
          </a:xfrm>
        </p:grpSpPr>
        <p:pic>
          <p:nvPicPr>
            <p:cNvPr id="8" name="図 7" descr="デスクトップコンピューターのモニター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AEB15F2-CD7F-75C6-A7A5-1FCA61197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94807" y="2024741"/>
              <a:ext cx="5758543" cy="4136573"/>
            </a:xfrm>
            <a:prstGeom prst="rect">
              <a:avLst/>
            </a:prstGeom>
          </p:spPr>
        </p:pic>
        <p:pic>
          <p:nvPicPr>
            <p:cNvPr id="11" name="図 10" descr="テーブル が含まれている画像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743E08EC-4F89-2E8F-F2A7-25156BED5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23196" y="2360727"/>
              <a:ext cx="5331347" cy="2644837"/>
            </a:xfrm>
            <a:prstGeom prst="rect">
              <a:avLst/>
            </a:prstGeom>
          </p:spPr>
        </p:pic>
      </p:grp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BFDDA4D-A2A3-39C5-1E51-A22D57566622}"/>
              </a:ext>
            </a:extLst>
          </p:cNvPr>
          <p:cNvSpPr txBox="1"/>
          <p:nvPr/>
        </p:nvSpPr>
        <p:spPr>
          <a:xfrm>
            <a:off x="1779813" y="1316855"/>
            <a:ext cx="2890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b="1" dirty="0">
                <a:ea typeface="ＭＳ Ｐ明朝" panose="02020600040205080304" pitchFamily="18" charset="-128"/>
              </a:rPr>
              <a:t>メインページ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DCFD573-0C81-E399-EE82-AF8743CE6570}"/>
              </a:ext>
            </a:extLst>
          </p:cNvPr>
          <p:cNvSpPr txBox="1"/>
          <p:nvPr/>
        </p:nvSpPr>
        <p:spPr>
          <a:xfrm>
            <a:off x="7156100" y="1316855"/>
            <a:ext cx="40655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b="1" dirty="0">
                <a:ea typeface="ＭＳ Ｐ明朝" panose="02020600040205080304" pitchFamily="18" charset="-128"/>
              </a:rPr>
              <a:t>ジャンル選択画面</a:t>
            </a:r>
          </a:p>
        </p:txBody>
      </p:sp>
    </p:spTree>
    <p:extLst>
      <p:ext uri="{BB962C8B-B14F-4D97-AF65-F5344CB8AC3E}">
        <p14:creationId xmlns:p14="http://schemas.microsoft.com/office/powerpoint/2010/main" val="109483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672</Words>
  <Application>Microsoft Office PowerPoint</Application>
  <PresentationFormat>ワイド画面</PresentationFormat>
  <Paragraphs>95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Google Sans Text</vt:lpstr>
      <vt:lpstr>ＭＳ Ｐ明朝</vt:lpstr>
      <vt:lpstr>游ゴシック</vt:lpstr>
      <vt:lpstr>游ゴシック Light</vt:lpstr>
      <vt:lpstr>Arial</vt:lpstr>
      <vt:lpstr>Office テーマ</vt:lpstr>
      <vt:lpstr>データベース最終課題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Kenshi Masaoka</dc:creator>
  <cp:lastModifiedBy>Kenshi Masaoka</cp:lastModifiedBy>
  <cp:revision>5</cp:revision>
  <dcterms:created xsi:type="dcterms:W3CDTF">2025-12-23T00:30:14Z</dcterms:created>
  <dcterms:modified xsi:type="dcterms:W3CDTF">2026-01-13T04:29:15Z</dcterms:modified>
</cp:coreProperties>
</file>