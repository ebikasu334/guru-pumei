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3" r:id="rId4"/>
    <p:sldId id="266" r:id="rId5"/>
    <p:sldId id="258" r:id="rId6"/>
    <p:sldId id="267" r:id="rId7"/>
    <p:sldId id="268" r:id="rId8"/>
    <p:sldId id="269" r:id="rId9"/>
    <p:sldId id="270" r:id="rId10"/>
    <p:sldId id="274" r:id="rId11"/>
    <p:sldId id="276" r:id="rId12"/>
    <p:sldId id="273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87733B-BDEC-4D96-9485-F7EB0721A021}" v="8" dt="2026-01-19T05:22:24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3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shi Masaoka" userId="9c23bae6d7682b31" providerId="LiveId" clId="{37AEB7CE-9187-44E6-B52B-77A7DD0AA6F8}"/>
    <pc:docChg chg="undo custSel addSld modSld sldOrd">
      <pc:chgData name="Kenshi Masaoka" userId="9c23bae6d7682b31" providerId="LiveId" clId="{37AEB7CE-9187-44E6-B52B-77A7DD0AA6F8}" dt="2026-01-19T05:22:24.311" v="24"/>
      <pc:docMkLst>
        <pc:docMk/>
      </pc:docMkLst>
      <pc:sldChg chg="addSp delSp modSp new mod setBg">
        <pc:chgData name="Kenshi Masaoka" userId="9c23bae6d7682b31" providerId="LiveId" clId="{37AEB7CE-9187-44E6-B52B-77A7DD0AA6F8}" dt="2026-01-19T05:21:44.524" v="22" actId="26606"/>
        <pc:sldMkLst>
          <pc:docMk/>
          <pc:sldMk cId="1759599997" sldId="268"/>
        </pc:sldMkLst>
        <pc:spChg chg="add del">
          <ac:chgData name="Kenshi Masaoka" userId="9c23bae6d7682b31" providerId="LiveId" clId="{37AEB7CE-9187-44E6-B52B-77A7DD0AA6F8}" dt="2026-01-19T05:21:44.524" v="22" actId="26606"/>
          <ac:spMkLst>
            <pc:docMk/>
            <pc:sldMk cId="1759599997" sldId="268"/>
            <ac:spMk id="8" creationId="{22F15A2D-2324-487D-A02A-BF46C5C580EB}"/>
          </ac:spMkLst>
        </pc:spChg>
        <pc:spChg chg="add del">
          <ac:chgData name="Kenshi Masaoka" userId="9c23bae6d7682b31" providerId="LiveId" clId="{37AEB7CE-9187-44E6-B52B-77A7DD0AA6F8}" dt="2026-01-19T05:21:44.524" v="22" actId="26606"/>
          <ac:spMkLst>
            <pc:docMk/>
            <pc:sldMk cId="1759599997" sldId="268"/>
            <ac:spMk id="10" creationId="{2AEAFA59-923A-4F54-8B49-44C970BCC323}"/>
          </ac:spMkLst>
        </pc:spChg>
        <pc:spChg chg="add del">
          <ac:chgData name="Kenshi Masaoka" userId="9c23bae6d7682b31" providerId="LiveId" clId="{37AEB7CE-9187-44E6-B52B-77A7DD0AA6F8}" dt="2026-01-19T05:21:44.524" v="22" actId="26606"/>
          <ac:spMkLst>
            <pc:docMk/>
            <pc:sldMk cId="1759599997" sldId="268"/>
            <ac:spMk id="12" creationId="{C37E9D4B-7BFA-4D10-B666-547BAC499469}"/>
          </ac:spMkLst>
        </pc:spChg>
        <pc:picChg chg="add mod">
          <ac:chgData name="Kenshi Masaoka" userId="9c23bae6d7682b31" providerId="LiveId" clId="{37AEB7CE-9187-44E6-B52B-77A7DD0AA6F8}" dt="2026-01-19T05:21:44.524" v="22" actId="26606"/>
          <ac:picMkLst>
            <pc:docMk/>
            <pc:sldMk cId="1759599997" sldId="268"/>
            <ac:picMk id="3" creationId="{CFF6501F-7727-02CF-0C9D-68029EADDF3B}"/>
          </ac:picMkLst>
        </pc:picChg>
      </pc:sldChg>
      <pc:sldChg chg="addSp modSp new mod">
        <pc:chgData name="Kenshi Masaoka" userId="9c23bae6d7682b31" providerId="LiveId" clId="{37AEB7CE-9187-44E6-B52B-77A7DD0AA6F8}" dt="2026-01-19T05:19:50.677" v="5" actId="1076"/>
        <pc:sldMkLst>
          <pc:docMk/>
          <pc:sldMk cId="3200546722" sldId="269"/>
        </pc:sldMkLst>
        <pc:spChg chg="add mod">
          <ac:chgData name="Kenshi Masaoka" userId="9c23bae6d7682b31" providerId="LiveId" clId="{37AEB7CE-9187-44E6-B52B-77A7DD0AA6F8}" dt="2026-01-19T05:19:50.677" v="5" actId="1076"/>
          <ac:spMkLst>
            <pc:docMk/>
            <pc:sldMk cId="3200546722" sldId="269"/>
            <ac:spMk id="2" creationId="{5BA62F63-44C9-C90D-98CB-CAC2C82978CB}"/>
          </ac:spMkLst>
        </pc:spChg>
        <pc:spChg chg="add mod">
          <ac:chgData name="Kenshi Masaoka" userId="9c23bae6d7682b31" providerId="LiveId" clId="{37AEB7CE-9187-44E6-B52B-77A7DD0AA6F8}" dt="2026-01-19T05:19:50.677" v="5" actId="1076"/>
          <ac:spMkLst>
            <pc:docMk/>
            <pc:sldMk cId="3200546722" sldId="269"/>
            <ac:spMk id="4" creationId="{E96F0D6E-FA4D-65C1-FD23-66BABD6CAA7C}"/>
          </ac:spMkLst>
        </pc:spChg>
      </pc:sldChg>
      <pc:sldChg chg="addSp modSp new">
        <pc:chgData name="Kenshi Masaoka" userId="9c23bae6d7682b31" providerId="LiveId" clId="{37AEB7CE-9187-44E6-B52B-77A7DD0AA6F8}" dt="2026-01-19T05:20:02.277" v="6"/>
        <pc:sldMkLst>
          <pc:docMk/>
          <pc:sldMk cId="1272201433" sldId="270"/>
        </pc:sldMkLst>
        <pc:picChg chg="add mod">
          <ac:chgData name="Kenshi Masaoka" userId="9c23bae6d7682b31" providerId="LiveId" clId="{37AEB7CE-9187-44E6-B52B-77A7DD0AA6F8}" dt="2026-01-19T05:20:02.277" v="6"/>
          <ac:picMkLst>
            <pc:docMk/>
            <pc:sldMk cId="1272201433" sldId="270"/>
            <ac:picMk id="3" creationId="{3DBE7A33-2F15-AD10-9F26-EE51BAF21B38}"/>
          </ac:picMkLst>
        </pc:picChg>
      </pc:sldChg>
      <pc:sldChg chg="addSp modSp new">
        <pc:chgData name="Kenshi Masaoka" userId="9c23bae6d7682b31" providerId="LiveId" clId="{37AEB7CE-9187-44E6-B52B-77A7DD0AA6F8}" dt="2026-01-19T05:20:39.443" v="12"/>
        <pc:sldMkLst>
          <pc:docMk/>
          <pc:sldMk cId="977362920" sldId="271"/>
        </pc:sldMkLst>
        <pc:picChg chg="add mod">
          <ac:chgData name="Kenshi Masaoka" userId="9c23bae6d7682b31" providerId="LiveId" clId="{37AEB7CE-9187-44E6-B52B-77A7DD0AA6F8}" dt="2026-01-19T05:20:39.443" v="12"/>
          <ac:picMkLst>
            <pc:docMk/>
            <pc:sldMk cId="977362920" sldId="271"/>
            <ac:picMk id="3" creationId="{0188A735-E6D1-9459-E440-85319643C4B1}"/>
          </ac:picMkLst>
        </pc:picChg>
      </pc:sldChg>
      <pc:sldChg chg="addSp modSp new ord">
        <pc:chgData name="Kenshi Masaoka" userId="9c23bae6d7682b31" providerId="LiveId" clId="{37AEB7CE-9187-44E6-B52B-77A7DD0AA6F8}" dt="2026-01-19T05:20:37.062" v="11"/>
        <pc:sldMkLst>
          <pc:docMk/>
          <pc:sldMk cId="188268289" sldId="272"/>
        </pc:sldMkLst>
        <pc:picChg chg="add mod">
          <ac:chgData name="Kenshi Masaoka" userId="9c23bae6d7682b31" providerId="LiveId" clId="{37AEB7CE-9187-44E6-B52B-77A7DD0AA6F8}" dt="2026-01-19T05:20:19.804" v="9"/>
          <ac:picMkLst>
            <pc:docMk/>
            <pc:sldMk cId="188268289" sldId="272"/>
            <ac:picMk id="3" creationId="{384EC1C1-4437-361E-A00B-95F3E313FE26}"/>
          </ac:picMkLst>
        </pc:picChg>
      </pc:sldChg>
      <pc:sldChg chg="addSp modSp new">
        <pc:chgData name="Kenshi Masaoka" userId="9c23bae6d7682b31" providerId="LiveId" clId="{37AEB7CE-9187-44E6-B52B-77A7DD0AA6F8}" dt="2026-01-19T05:22:24.311" v="24"/>
        <pc:sldMkLst>
          <pc:docMk/>
          <pc:sldMk cId="3820390968" sldId="273"/>
        </pc:sldMkLst>
        <pc:picChg chg="add mod">
          <ac:chgData name="Kenshi Masaoka" userId="9c23bae6d7682b31" providerId="LiveId" clId="{37AEB7CE-9187-44E6-B52B-77A7DD0AA6F8}" dt="2026-01-19T05:22:24.311" v="24"/>
          <ac:picMkLst>
            <pc:docMk/>
            <pc:sldMk cId="3820390968" sldId="273"/>
            <ac:picMk id="3" creationId="{110E6402-AA74-DB27-7DBD-9C6C4C2550F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BCC20-9399-42C6-BE4C-3960A846DD33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DA1C1-3141-4FD9-89CE-3FB317D90F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08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DA1C1-3141-4FD9-89CE-3FB317D90FF9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696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AA835D-87FE-64F6-EB1E-17C99CF3D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EFE69D-C754-CFDF-38A4-BCE185935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7756CF-5429-907E-0A3C-AF359624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F920D2-A29E-4A1D-5536-CA799F612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651B5D-341B-7E7A-0740-225773ED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2828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CB2078-8B46-53C5-FC45-C13D46DCA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BD4B09-9B20-F322-1589-980801CE2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F0DAAC-90CC-71F8-6C3A-52D7790ED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D08E67-D93C-CD60-AB04-9F2C637B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4AEE2C-6932-E689-9D84-411E2985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932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C3605B-F8D3-337D-C5DB-347ECD12A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311FCD-AAE1-29C3-4277-8F5A2DF00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2E8C3A-FB47-20E7-B04F-6C6378E6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F96E53-218B-A791-7FA6-1ED60327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B0E4CA-9E5E-A631-577B-F2E45EBB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5C587-98DD-02E6-5411-2B85FBBCB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141717-8558-9F39-CAE9-232792F82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0D36D9-6549-C4CB-1BC4-0F1DF3989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DE93058-6CE0-B16E-7D9B-5F951200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11BDF0-26B6-B7D4-F188-58272F43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F29365-A7BC-F8F0-94A6-CAC836BC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700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B3324B-7874-77E7-CF86-1481D46B3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E3AD87-6E3D-92F1-B5B6-72443A384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5F5F8B-A0F4-A289-F4BB-3D6CF1DD5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D77077E-18ED-6FCE-D556-7EEE0034EC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A8F3331-B1C0-1825-2156-E5E1C3A3B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6C4942B-C293-235D-0893-28BC5DB8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F2D73DF-BFA5-48DA-2AF5-8315BC8A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2FC0D0-4053-A3B1-0C4D-6F396A48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476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88857-146D-F5E9-4BDB-1FDC3425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529201A-4884-BE86-A6FD-6E4CF38B8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A51E93-0C1B-B1A0-AB14-397D493A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B4332AE-095A-ACD5-CA03-B086BC5C5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563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12CE35B-1B66-35FF-E8F7-D1092A92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41224E-52C0-6DD9-8596-75BD29F1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BFB910-F781-64DD-C2AF-9AEA64D8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247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29CAA2-95AA-240A-4AB8-6192D076D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9C099E-9E21-EC58-FB3A-624E29B4D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D894BC-4A37-544E-DDB0-F849FB7A3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4E4733-8A10-603D-38DE-C88A8170F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A6480A-DE53-0C94-2152-FAC091BB6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B47358-7A09-6E96-F0FD-F8F8B97D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4963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9CFF5D-3958-CCCE-158C-E39DBA5CF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8D8BD31-D2BF-E2FD-F7E9-37ACB92B4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A6C1F5-020F-91EA-1DD0-5134A52D9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37A906-B4F4-8B58-9E97-A048A4EE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4625BA-F543-4520-559B-B2CBD360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A77E29-E9A6-C30D-AEC8-51CD8E1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54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9016FB-8646-AA5C-1682-C06CEB26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11E0E20-58E2-EFA9-AA61-9EB251BB8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82A63B-698F-438F-4748-FC102D4C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C6EA2C-7B87-4C36-7C40-0ADAD069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84A8A3-7CC3-1718-CACF-7B6C2B1F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61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5DEE21-60C6-8D3C-B2C3-F2ACFC498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EACE7F-FF61-CF37-5BF8-F75D6DB31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C1EFC4-D531-496B-3645-87A78B144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BEFA90-FF73-9486-82AD-254C9577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8E2157-FD39-F1AD-0BC1-5946FFCA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468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22542EC-FE4B-7796-614D-1CC211F8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A36EF6-64CA-BC0D-F2A9-9E8B2A696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881FF3-AA93-9A8C-8B0C-1842D7AC5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A6209A-44BB-221B-CF60-8B171781E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6D44E5-767F-EA00-D507-B78FE7CF5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665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pCJEL2-gz9Bc5oOMvt7zbcINs2uu5EMr/view?usp=sharing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1433260-80A9-512E-B253-AA75783E5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ja-JP" sz="6100" b="1" dirty="0"/>
              <a:t>Game-</a:t>
            </a:r>
            <a:r>
              <a:rPr lang="en-US" altLang="ja-JP" sz="6100" b="1" dirty="0" err="1"/>
              <a:t>Shiru</a:t>
            </a:r>
            <a:r>
              <a:rPr lang="en-US" altLang="ja-JP" sz="6100" b="1" dirty="0"/>
              <a:t>(</a:t>
            </a:r>
            <a:r>
              <a:rPr lang="ja-JP" altLang="en-US" sz="6100" b="1" dirty="0"/>
              <a:t>ゲムしる</a:t>
            </a:r>
            <a:r>
              <a:rPr lang="en-US" altLang="ja-JP" sz="6100" b="1" dirty="0"/>
              <a:t>)</a:t>
            </a:r>
            <a:endParaRPr kumimoji="1" lang="ja-JP" altLang="en-US" sz="6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AC133F-7DC6-B18F-6803-04CF72D07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0" y="3405446"/>
            <a:ext cx="8074815" cy="23318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ja-JP" altLang="en-US" dirty="0"/>
              <a:t>伊比悠幹</a:t>
            </a:r>
            <a:r>
              <a:rPr lang="en-US" altLang="ja-JP" dirty="0"/>
              <a:t>2442009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ja-JP" altLang="en-US" dirty="0"/>
              <a:t>出島由基</a:t>
            </a:r>
            <a:r>
              <a:rPr lang="en-US" altLang="ja-JP" dirty="0"/>
              <a:t>2442058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ja-JP" altLang="en-US" dirty="0"/>
              <a:t>笹川悠互</a:t>
            </a:r>
            <a:r>
              <a:rPr lang="en-US" altLang="ja-JP" dirty="0"/>
              <a:t>2442036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ja-JP" altLang="en-US" dirty="0"/>
              <a:t>シンジハオ</a:t>
            </a:r>
            <a:r>
              <a:rPr lang="en-US" altLang="ja-JP" dirty="0"/>
              <a:t>2442041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ja-JP" altLang="en-US" dirty="0"/>
              <a:t>正岡拳士</a:t>
            </a:r>
            <a:r>
              <a:rPr lang="en-US" altLang="ja-JP" dirty="0"/>
              <a:t>2442079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888B69-2E83-CDC6-7DC5-966A8C207D5B}"/>
              </a:ext>
            </a:extLst>
          </p:cNvPr>
          <p:cNvSpPr txBox="1"/>
          <p:nvPr/>
        </p:nvSpPr>
        <p:spPr>
          <a:xfrm>
            <a:off x="1285240" y="2265278"/>
            <a:ext cx="8074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Game Recommendation System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03672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6E7377-60C9-D5C8-A3B2-E535F0B46148}"/>
              </a:ext>
            </a:extLst>
          </p:cNvPr>
          <p:cNvSpPr txBox="1"/>
          <p:nvPr/>
        </p:nvSpPr>
        <p:spPr>
          <a:xfrm>
            <a:off x="1247904" y="855650"/>
            <a:ext cx="9231410" cy="43169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6000" b="1" u="sng" kern="1200" dirty="0">
                <a:solidFill>
                  <a:schemeClr val="tx1"/>
                </a:solidFill>
                <a:highlight>
                  <a:srgbClr val="C0C0C0"/>
                </a:highlight>
                <a:latin typeface="+mj-lt"/>
                <a:ea typeface="+mj-ea"/>
                <a:cs typeface="+mj-cs"/>
              </a:rPr>
              <a:t>自分に合うゲームを教えてくれるアプリ</a:t>
            </a:r>
            <a:endParaRPr lang="en-US" altLang="ja-JP" sz="6000" b="1" u="sng" kern="1200" dirty="0">
              <a:solidFill>
                <a:schemeClr val="tx1"/>
              </a:solidFill>
              <a:highlight>
                <a:srgbClr val="C0C0C0"/>
              </a:highlight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ja-JP" sz="4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ゲーム推薦アプリケーション　</a:t>
            </a:r>
            <a:r>
              <a:rPr lang="en-US" altLang="ja-JP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Game-</a:t>
            </a:r>
            <a:r>
              <a:rPr lang="en-US" altLang="ja-JP" sz="4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Shiru</a:t>
            </a:r>
            <a:r>
              <a:rPr lang="en-US" altLang="ja-JP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lang="ja-JP" altLang="en-US" sz="4600" b="1" dirty="0">
                <a:latin typeface="+mj-lt"/>
                <a:ea typeface="+mj-ea"/>
                <a:cs typeface="+mj-cs"/>
              </a:rPr>
              <a:t>ゲムしる</a:t>
            </a:r>
            <a:r>
              <a:rPr lang="en-US" altLang="ja-JP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591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6763599-8CB5-B9D3-BF58-45E53033E87D}"/>
              </a:ext>
            </a:extLst>
          </p:cNvPr>
          <p:cNvSpPr txBox="1"/>
          <p:nvPr/>
        </p:nvSpPr>
        <p:spPr>
          <a:xfrm>
            <a:off x="1237113" y="864329"/>
            <a:ext cx="8074815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7200" u="sng" dirty="0"/>
              <a:t>アプリ概要</a:t>
            </a:r>
            <a:endParaRPr kumimoji="0" lang="en-US" altLang="ja-JP" sz="7200" u="sng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3E6E56-1A45-0857-1C9C-11E272C4C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30" y="2030683"/>
            <a:ext cx="10985264" cy="39629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ja-JP" sz="39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3900" b="1" i="0" u="none" strike="noStrike" cap="none" normalizeH="0" baseline="0" dirty="0">
                <a:ln>
                  <a:noFill/>
                </a:ln>
                <a:effectLst/>
              </a:rPr>
              <a:t>目的：</a:t>
            </a:r>
            <a:r>
              <a:rPr kumimoji="0" lang="ja-JP" altLang="en-US" sz="3900" i="0" u="none" strike="noStrike" cap="none" normalizeH="0" baseline="0" dirty="0">
                <a:ln>
                  <a:noFill/>
                </a:ln>
                <a:effectLst/>
              </a:rPr>
              <a:t>好みのゲームを見つける</a:t>
            </a:r>
            <a:endParaRPr kumimoji="0" lang="en-US" altLang="ja-JP" sz="390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3900" b="1" i="0" u="none" strike="noStrike" cap="none" normalizeH="0" baseline="0" dirty="0">
                <a:ln>
                  <a:noFill/>
                </a:ln>
                <a:effectLst/>
              </a:rPr>
              <a:t>データベース</a:t>
            </a:r>
            <a:r>
              <a:rPr kumimoji="0" lang="ja-JP" altLang="en-US" sz="3900" i="0" u="none" strike="noStrike" cap="none" normalizeH="0" baseline="0" dirty="0">
                <a:ln>
                  <a:noFill/>
                </a:ln>
                <a:effectLst/>
              </a:rPr>
              <a:t>：</a:t>
            </a:r>
            <a:r>
              <a:rPr kumimoji="0" lang="en-US" altLang="ja-JP" sz="3900" i="0" u="none" strike="noStrike" cap="none" normalizeH="0" baseline="0" dirty="0">
                <a:ln>
                  <a:noFill/>
                </a:ln>
                <a:effectLst/>
              </a:rPr>
              <a:t>100</a:t>
            </a:r>
            <a:r>
              <a:rPr kumimoji="0" lang="ja-JP" altLang="en-US" sz="3900" dirty="0"/>
              <a:t>個</a:t>
            </a:r>
            <a:r>
              <a:rPr kumimoji="0" lang="ja-JP" altLang="en-US" sz="3900" i="0" u="none" strike="noStrike" cap="none" normalizeH="0" baseline="0" dirty="0">
                <a:ln>
                  <a:noFill/>
                </a:ln>
                <a:effectLst/>
              </a:rPr>
              <a:t>のゲームデータ</a:t>
            </a:r>
            <a:endParaRPr kumimoji="0" lang="en-US" altLang="ja-JP" sz="390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3900" b="1" i="0" u="none" strike="noStrike" cap="none" normalizeH="0" baseline="0" dirty="0">
                <a:ln>
                  <a:noFill/>
                </a:ln>
                <a:effectLst/>
              </a:rPr>
              <a:t>機能：</a:t>
            </a:r>
            <a:endParaRPr kumimoji="0" lang="en-US" altLang="ja-JP" sz="39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3900" i="0" u="none" strike="noStrike" cap="none" normalizeH="0" baseline="0" dirty="0">
                <a:ln>
                  <a:noFill/>
                </a:ln>
                <a:effectLst/>
              </a:rPr>
              <a:t>・タグ検索</a:t>
            </a:r>
            <a:r>
              <a:rPr kumimoji="0" lang="en-US" altLang="ja-JP" sz="3900" b="1" i="0" u="none" strike="noStrike" cap="none" normalizeH="0" baseline="0" dirty="0">
                <a:ln>
                  <a:noFill/>
                </a:ln>
                <a:effectLst/>
              </a:rPr>
              <a:t>(</a:t>
            </a:r>
            <a:r>
              <a:rPr kumimoji="0" lang="ja-JP" altLang="en-US" sz="3900" i="0" strike="noStrike" cap="none" normalizeH="0" baseline="0" dirty="0">
                <a:ln>
                  <a:noFill/>
                </a:ln>
                <a:effectLst/>
              </a:rPr>
              <a:t>ジャンル</a:t>
            </a:r>
            <a:r>
              <a:rPr kumimoji="0" lang="en-US" altLang="ja-JP" sz="3900" dirty="0"/>
              <a:t>, </a:t>
            </a:r>
            <a:r>
              <a:rPr kumimoji="0" lang="ja-JP" altLang="en-US" sz="3900" strike="noStrike" cap="none" normalizeH="0" baseline="0" dirty="0">
                <a:ln>
                  <a:noFill/>
                </a:ln>
                <a:effectLst/>
              </a:rPr>
              <a:t>プ</a:t>
            </a:r>
            <a:r>
              <a:rPr kumimoji="0" lang="ja-JP" altLang="en-US" sz="3900" i="0" strike="noStrike" cap="none" normalizeH="0" baseline="0" dirty="0">
                <a:ln>
                  <a:noFill/>
                </a:ln>
                <a:effectLst/>
              </a:rPr>
              <a:t>レイスタイル</a:t>
            </a:r>
            <a:r>
              <a:rPr kumimoji="0" lang="en-US" altLang="ja-JP" sz="3900" i="0" strike="noStrike" cap="none" normalizeH="0" baseline="0" dirty="0">
                <a:ln>
                  <a:noFill/>
                </a:ln>
                <a:effectLst/>
              </a:rPr>
              <a:t>,</a:t>
            </a:r>
            <a:r>
              <a:rPr kumimoji="0" lang="ja-JP" altLang="en-US" sz="3900" i="0" strike="noStrike" cap="none" normalizeH="0" baseline="0" dirty="0">
                <a:ln>
                  <a:noFill/>
                </a:ln>
                <a:effectLst/>
              </a:rPr>
              <a:t> プラットフォーム</a:t>
            </a:r>
            <a:endParaRPr kumimoji="0" lang="en-US" altLang="ja-JP" sz="3900" i="0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ja-JP" sz="3900" i="0" strike="noStrike" cap="none" normalizeH="0" baseline="0" dirty="0">
                <a:ln>
                  <a:noFill/>
                </a:ln>
                <a:effectLst/>
              </a:rPr>
              <a:t>,</a:t>
            </a:r>
            <a:r>
              <a:rPr kumimoji="0" lang="ja-JP" altLang="en-US" sz="3900" i="0" strike="noStrike" cap="none" normalizeH="0" baseline="0" dirty="0">
                <a:ln>
                  <a:noFill/>
                </a:ln>
                <a:effectLst/>
              </a:rPr>
              <a:t> 国</a:t>
            </a:r>
            <a:r>
              <a:rPr kumimoji="0" lang="en-US" altLang="ja-JP" sz="3900" i="0" strike="noStrike" cap="none" normalizeH="0" baseline="0" dirty="0">
                <a:ln>
                  <a:noFill/>
                </a:ln>
                <a:effectLst/>
              </a:rPr>
              <a:t>)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3900" dirty="0"/>
              <a:t>・リリース日順ソート</a:t>
            </a:r>
            <a:endParaRPr kumimoji="0" lang="en-US" altLang="ja-JP" sz="3900" dirty="0"/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3900" dirty="0"/>
              <a:t>・</a:t>
            </a:r>
            <a:r>
              <a:rPr kumimoji="0" lang="en-US" altLang="ja-JP" sz="3900" dirty="0"/>
              <a:t>CRUD</a:t>
            </a:r>
            <a:r>
              <a:rPr kumimoji="0" lang="ja-JP" altLang="en-US" sz="3900" dirty="0"/>
              <a:t>操作</a:t>
            </a:r>
            <a:r>
              <a:rPr kumimoji="0" lang="en-US" altLang="ja-JP" sz="3900" dirty="0"/>
              <a:t>(</a:t>
            </a:r>
            <a:r>
              <a:rPr kumimoji="0" lang="ja-JP" altLang="en-US" sz="3900" dirty="0"/>
              <a:t>作成、読み取り、更新、削除</a:t>
            </a:r>
            <a:r>
              <a:rPr kumimoji="0" lang="en-US" altLang="ja-JP" sz="3900" dirty="0"/>
              <a:t>)</a:t>
            </a:r>
            <a:endParaRPr kumimoji="0" lang="en-US" altLang="ja-JP" sz="39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ja-JP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6618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2C321D69-3981-1EC0-5C8A-09A357E753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3959791E-02C3-DC80-B8DB-94C876C7E9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C2105011-A880-CACA-2040-7A335D00E8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6B4F37C0-B9B0-456F-C5A7-F5A0A42560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29F0BDB1-4E78-95D7-423D-4D569A378FF4}"/>
              </a:ext>
            </a:extLst>
          </p:cNvPr>
          <p:cNvGrpSpPr/>
          <p:nvPr/>
        </p:nvGrpSpPr>
        <p:grpSpPr>
          <a:xfrm>
            <a:off x="643467" y="1201870"/>
            <a:ext cx="5294716" cy="4454258"/>
            <a:chOff x="6294807" y="1316855"/>
            <a:chExt cx="5758543" cy="4844459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A395D4A8-4861-D096-48A0-D9829BD4825E}"/>
                </a:ext>
              </a:extLst>
            </p:cNvPr>
            <p:cNvGrpSpPr/>
            <p:nvPr/>
          </p:nvGrpSpPr>
          <p:grpSpPr>
            <a:xfrm>
              <a:off x="6294807" y="2024741"/>
              <a:ext cx="5758543" cy="4136573"/>
              <a:chOff x="6294807" y="2024741"/>
              <a:chExt cx="5758543" cy="4136573"/>
            </a:xfrm>
          </p:grpSpPr>
          <p:pic>
            <p:nvPicPr>
              <p:cNvPr id="8" name="図 7" descr="デスクトップコンピューターのモニター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BAEB15F2-CD7F-75C6-A7A5-1FCA611973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94807" y="2024741"/>
                <a:ext cx="5758543" cy="4136573"/>
              </a:xfrm>
              <a:prstGeom prst="rect">
                <a:avLst/>
              </a:prstGeom>
            </p:spPr>
          </p:pic>
          <p:pic>
            <p:nvPicPr>
              <p:cNvPr id="11" name="図 10" descr="テーブル が含まれている画像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743E08EC-4F89-2E8F-F2A7-25156BED5F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23196" y="2360727"/>
                <a:ext cx="5331347" cy="2644837"/>
              </a:xfrm>
              <a:prstGeom prst="rect">
                <a:avLst/>
              </a:prstGeom>
            </p:spPr>
          </p:pic>
        </p:grp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DCFD573-0C81-E399-EE82-AF8743CE6570}"/>
                </a:ext>
              </a:extLst>
            </p:cNvPr>
            <p:cNvSpPr txBox="1"/>
            <p:nvPr/>
          </p:nvSpPr>
          <p:spPr>
            <a:xfrm>
              <a:off x="7156100" y="1316855"/>
              <a:ext cx="4065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32104">
                <a:spcAft>
                  <a:spcPts val="600"/>
                </a:spcAft>
              </a:pPr>
              <a:r>
                <a:rPr kumimoji="1" lang="ja-JP" altLang="en-US" sz="3640" b="1" kern="1200">
                  <a:solidFill>
                    <a:schemeClr val="tx1"/>
                  </a:solidFill>
                  <a:latin typeface="+mn-lt"/>
                  <a:ea typeface="ＭＳ Ｐ明朝" panose="02020600040205080304" pitchFamily="18" charset="-128"/>
                  <a:cs typeface="+mn-cs"/>
                </a:rPr>
                <a:t>ジャンル選択画面</a:t>
              </a:r>
              <a:endParaRPr lang="ja-JP" altLang="en-US" sz="4000" b="1">
                <a:ea typeface="ＭＳ Ｐ明朝" panose="02020600040205080304" pitchFamily="18" charset="-128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D6944DB4-D4F4-E9A8-A520-B8BFC7CAB4EE}"/>
              </a:ext>
            </a:extLst>
          </p:cNvPr>
          <p:cNvGrpSpPr/>
          <p:nvPr/>
        </p:nvGrpSpPr>
        <p:grpSpPr>
          <a:xfrm>
            <a:off x="6253817" y="1201872"/>
            <a:ext cx="5294715" cy="4454260"/>
            <a:chOff x="337457" y="1316855"/>
            <a:chExt cx="5758543" cy="4844459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5BFDDA4D-A2A3-39C5-1E51-A22D57566622}"/>
                </a:ext>
              </a:extLst>
            </p:cNvPr>
            <p:cNvSpPr txBox="1"/>
            <p:nvPr/>
          </p:nvSpPr>
          <p:spPr>
            <a:xfrm>
              <a:off x="1779813" y="1316855"/>
              <a:ext cx="28901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32104">
                <a:spcAft>
                  <a:spcPts val="600"/>
                </a:spcAft>
              </a:pPr>
              <a:r>
                <a:rPr kumimoji="1" lang="ja-JP" altLang="en-US" sz="3640" b="1" kern="1200">
                  <a:solidFill>
                    <a:schemeClr val="tx1"/>
                  </a:solidFill>
                  <a:latin typeface="+mn-lt"/>
                  <a:ea typeface="ＭＳ Ｐ明朝" panose="02020600040205080304" pitchFamily="18" charset="-128"/>
                  <a:cs typeface="+mn-cs"/>
                </a:rPr>
                <a:t>メインページ</a:t>
              </a:r>
              <a:endParaRPr kumimoji="1" lang="ja-JP" altLang="en-US" sz="4000" b="1">
                <a:ea typeface="ＭＳ Ｐ明朝" panose="02020600040205080304" pitchFamily="18" charset="-128"/>
              </a:endParaRPr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E63E9532-E790-4C19-CBE7-C68ADD6E87B2}"/>
                </a:ext>
              </a:extLst>
            </p:cNvPr>
            <p:cNvGrpSpPr/>
            <p:nvPr/>
          </p:nvGrpSpPr>
          <p:grpSpPr>
            <a:xfrm>
              <a:off x="337457" y="2024741"/>
              <a:ext cx="5758543" cy="4136573"/>
              <a:chOff x="337457" y="2024741"/>
              <a:chExt cx="5758543" cy="4136573"/>
            </a:xfrm>
          </p:grpSpPr>
          <p:grpSp>
            <p:nvGrpSpPr>
              <p:cNvPr id="6" name="グループ化 5">
                <a:extLst>
                  <a:ext uri="{FF2B5EF4-FFF2-40B4-BE49-F238E27FC236}">
                    <a16:creationId xmlns:a16="http://schemas.microsoft.com/office/drawing/2014/main" id="{EE91F422-0962-FB71-883E-572CDF756F2B}"/>
                  </a:ext>
                </a:extLst>
              </p:cNvPr>
              <p:cNvGrpSpPr/>
              <p:nvPr/>
            </p:nvGrpSpPr>
            <p:grpSpPr>
              <a:xfrm>
                <a:off x="337457" y="2024741"/>
                <a:ext cx="5758543" cy="4136573"/>
                <a:chOff x="1524000" y="0"/>
                <a:chExt cx="9144000" cy="6858000"/>
              </a:xfrm>
            </p:grpSpPr>
            <p:pic>
              <p:nvPicPr>
                <p:cNvPr id="3" name="図 2" descr="デスクトップコンピューターのモニター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2A7A648A-666C-4FBE-959C-DB78D9C7C2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4000" y="0"/>
                  <a:ext cx="9144000" cy="6858000"/>
                </a:xfrm>
                <a:prstGeom prst="rect">
                  <a:avLst/>
                </a:prstGeom>
              </p:spPr>
            </p:pic>
            <p:pic>
              <p:nvPicPr>
                <p:cNvPr id="5" name="図 4" descr="グラフィカル ユーザー インターフェイス, アプリケーション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274E42F4-17F0-164C-39D5-FF4D74EF55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39686" y="609601"/>
                  <a:ext cx="8583385" cy="4279720"/>
                </a:xfrm>
                <a:prstGeom prst="rect">
                  <a:avLst/>
                </a:prstGeom>
              </p:spPr>
            </p:pic>
          </p:grpSp>
          <p:pic>
            <p:nvPicPr>
              <p:cNvPr id="19" name="図 18" descr="グラフィカル ユーザー インターフェイス, アプリケーション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B5BD5120-EC77-7906-0EFB-E849FFCA3D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7828" y="2317610"/>
                <a:ext cx="5362776" cy="273107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9483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B0B05BB-3757-F196-3AAA-72BCE0B3C993}"/>
              </a:ext>
            </a:extLst>
          </p:cNvPr>
          <p:cNvSpPr txBox="1"/>
          <p:nvPr/>
        </p:nvSpPr>
        <p:spPr>
          <a:xfrm>
            <a:off x="1363531" y="0"/>
            <a:ext cx="1841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ペルソナ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9EDEE12-CED6-7F9D-32AB-3D6A036D1CB4}"/>
              </a:ext>
            </a:extLst>
          </p:cNvPr>
          <p:cNvSpPr txBox="1"/>
          <p:nvPr/>
        </p:nvSpPr>
        <p:spPr>
          <a:xfrm>
            <a:off x="636758" y="3309209"/>
            <a:ext cx="440049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名前：木村 吉衛門</a:t>
            </a:r>
            <a:endParaRPr kumimoji="1" lang="en-US" altLang="ja-JP" sz="2400" dirty="0"/>
          </a:p>
          <a:p>
            <a:r>
              <a:rPr lang="ja-JP" altLang="en-US" sz="2400" dirty="0"/>
              <a:t>年齢：</a:t>
            </a:r>
            <a:r>
              <a:rPr lang="en-US" altLang="ja-JP" sz="2400" dirty="0"/>
              <a:t>28</a:t>
            </a:r>
          </a:p>
          <a:p>
            <a:r>
              <a:rPr kumimoji="1" lang="ja-JP" altLang="en-US" sz="2400" dirty="0"/>
              <a:t>職業：家電屋勤務</a:t>
            </a:r>
            <a:endParaRPr lang="en-US" altLang="ja-JP" sz="2400" dirty="0"/>
          </a:p>
          <a:p>
            <a:r>
              <a:rPr kumimoji="1" lang="ja-JP" altLang="en-US" sz="2400" dirty="0"/>
              <a:t>年収：</a:t>
            </a:r>
            <a:r>
              <a:rPr kumimoji="1" lang="en-US" altLang="ja-JP" sz="2400" dirty="0"/>
              <a:t>340</a:t>
            </a:r>
            <a:r>
              <a:rPr kumimoji="1" lang="ja-JP" altLang="en-US" sz="2400" dirty="0"/>
              <a:t>万</a:t>
            </a:r>
            <a:endParaRPr kumimoji="1" lang="en-US" altLang="ja-JP" sz="2400" dirty="0"/>
          </a:p>
          <a:p>
            <a:r>
              <a:rPr lang="ja-JP" altLang="en-US" sz="2400" dirty="0"/>
              <a:t>居住地：東京都世田谷区</a:t>
            </a:r>
            <a:endParaRPr lang="en-US" altLang="ja-JP" sz="2400" dirty="0"/>
          </a:p>
          <a:p>
            <a:r>
              <a:rPr lang="ja-JP" altLang="en-US" sz="2400" dirty="0"/>
              <a:t>未既婚等：未婚・一人暮らし</a:t>
            </a:r>
            <a:endParaRPr lang="en-US" altLang="ja-JP" sz="2400" dirty="0"/>
          </a:p>
          <a:p>
            <a:r>
              <a:rPr lang="ja-JP" altLang="en-US" sz="2400" dirty="0"/>
              <a:t>最終学歴：東京都市大学</a:t>
            </a:r>
            <a:endParaRPr lang="en-US" altLang="ja-JP" sz="2400" dirty="0"/>
          </a:p>
          <a:p>
            <a:r>
              <a:rPr lang="ja-JP" altLang="en-US" sz="2400" dirty="0"/>
              <a:t>趣味：アニメ、少しゲーム</a:t>
            </a:r>
            <a:endParaRPr lang="en-US" altLang="ja-JP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DCECF1-10A4-4752-7870-CD532C091FC2}"/>
              </a:ext>
            </a:extLst>
          </p:cNvPr>
          <p:cNvSpPr txBox="1"/>
          <p:nvPr/>
        </p:nvSpPr>
        <p:spPr>
          <a:xfrm>
            <a:off x="5037255" y="685696"/>
            <a:ext cx="6156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自分に合うゲームを探したい</a:t>
            </a:r>
            <a:endParaRPr lang="en-US" altLang="ja-JP" sz="3600" b="1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8B19C32-E85F-E6B7-D7DA-8EFA5771E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74" y="464874"/>
            <a:ext cx="2932580" cy="276789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D76F30-A5B2-0E25-3BD6-1632AAB2FD00}"/>
              </a:ext>
            </a:extLst>
          </p:cNvPr>
          <p:cNvSpPr txBox="1"/>
          <p:nvPr/>
        </p:nvSpPr>
        <p:spPr>
          <a:xfrm>
            <a:off x="5174731" y="1560200"/>
            <a:ext cx="638051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u="sng" dirty="0"/>
              <a:t>価値観</a:t>
            </a:r>
            <a:endParaRPr kumimoji="1" lang="en-US" altLang="ja-JP" sz="2400" b="1" u="sng" dirty="0"/>
          </a:p>
          <a:p>
            <a:r>
              <a:rPr lang="ja-JP" altLang="en-US" sz="2400" dirty="0"/>
              <a:t>失敗（時間やお金の無駄）を嫌う。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u="sng" dirty="0"/>
              <a:t>ゲームをする動機</a:t>
            </a:r>
            <a:endParaRPr lang="en-US" altLang="ja-JP" sz="2400" b="1" u="sn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dirty="0">
                <a:latin typeface="Arial" panose="020B0604020202020204" pitchFamily="34" charset="0"/>
              </a:rPr>
              <a:t>話題作を遊ぶことで、友人やSNSでの共通の話題を持ちたい</a:t>
            </a:r>
            <a:r>
              <a:rPr kumimoji="0" lang="ja-JP" altLang="en-US" sz="2400" dirty="0">
                <a:latin typeface="Arial" panose="020B0604020202020204" pitchFamily="34" charset="0"/>
              </a:rPr>
              <a:t>。</a:t>
            </a:r>
            <a:r>
              <a:rPr kumimoji="0" lang="ja-JP" altLang="ja-JP" sz="2400" dirty="0">
                <a:latin typeface="Arial" panose="020B0604020202020204" pitchFamily="34" charset="0"/>
              </a:rPr>
              <a:t>ただし、「合わないゲームを選んでしまうとすぐにやめてしまう」という失敗経験がある</a:t>
            </a:r>
            <a:r>
              <a:rPr kumimoji="0" lang="ja-JP" altLang="en-US" sz="2400" dirty="0">
                <a:latin typeface="Arial" panose="020B0604020202020204" pitchFamily="34" charset="0"/>
              </a:rPr>
              <a:t>。</a:t>
            </a:r>
            <a:endParaRPr kumimoji="0" lang="en-US" altLang="ja-JP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ja-JP" sz="2400" b="1" dirty="0">
              <a:latin typeface="Arial" panose="020B0604020202020204" pitchFamily="34" charset="0"/>
            </a:endParaRPr>
          </a:p>
          <a:p>
            <a:r>
              <a:rPr lang="ja-JP" altLang="en-US" sz="2400" b="1" u="sng" dirty="0"/>
              <a:t>ゲームに求めること</a:t>
            </a:r>
          </a:p>
          <a:p>
            <a:r>
              <a:rPr lang="ja-JP" altLang="en-US" sz="2400" dirty="0"/>
              <a:t>自分の好みに合っていること。人気がある・評価が高いこと。ジャンル・年代・ハードを絞って効率よく探せること。</a:t>
            </a:r>
            <a:endParaRPr kumimoji="0" lang="ja-JP" altLang="ja-JP" sz="2400" dirty="0">
              <a:latin typeface="Arial" panose="020B0604020202020204" pitchFamily="34" charset="0"/>
            </a:endParaRPr>
          </a:p>
          <a:p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896EEBF-80C3-D4DA-5904-5C6C5AB65F2A}"/>
              </a:ext>
            </a:extLst>
          </p:cNvPr>
          <p:cNvSpPr/>
          <p:nvPr/>
        </p:nvSpPr>
        <p:spPr>
          <a:xfrm>
            <a:off x="561336" y="3368550"/>
            <a:ext cx="150843" cy="292830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F5841C6-26E0-23E9-B979-5620E3F15217}"/>
              </a:ext>
            </a:extLst>
          </p:cNvPr>
          <p:cNvSpPr/>
          <p:nvPr/>
        </p:nvSpPr>
        <p:spPr>
          <a:xfrm>
            <a:off x="5138320" y="696461"/>
            <a:ext cx="5954794" cy="56911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31119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5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Triangle 37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39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54199356-B9F0-CD04-F7C5-4C2FBEEA2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692367"/>
              </p:ext>
            </p:extLst>
          </p:nvPr>
        </p:nvGraphicFramePr>
        <p:xfrm>
          <a:off x="874247" y="1314074"/>
          <a:ext cx="10440106" cy="46328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1863">
                  <a:extLst>
                    <a:ext uri="{9D8B030D-6E8A-4147-A177-3AD203B41FA5}">
                      <a16:colId xmlns:a16="http://schemas.microsoft.com/office/drawing/2014/main" val="4169442785"/>
                    </a:ext>
                  </a:extLst>
                </a:gridCol>
                <a:gridCol w="2369585">
                  <a:extLst>
                    <a:ext uri="{9D8B030D-6E8A-4147-A177-3AD203B41FA5}">
                      <a16:colId xmlns:a16="http://schemas.microsoft.com/office/drawing/2014/main" val="149999220"/>
                    </a:ext>
                  </a:extLst>
                </a:gridCol>
                <a:gridCol w="2324350">
                  <a:extLst>
                    <a:ext uri="{9D8B030D-6E8A-4147-A177-3AD203B41FA5}">
                      <a16:colId xmlns:a16="http://schemas.microsoft.com/office/drawing/2014/main" val="469688059"/>
                    </a:ext>
                  </a:extLst>
                </a:gridCol>
                <a:gridCol w="2066124">
                  <a:extLst>
                    <a:ext uri="{9D8B030D-6E8A-4147-A177-3AD203B41FA5}">
                      <a16:colId xmlns:a16="http://schemas.microsoft.com/office/drawing/2014/main" val="1658378334"/>
                    </a:ext>
                  </a:extLst>
                </a:gridCol>
                <a:gridCol w="2818184">
                  <a:extLst>
                    <a:ext uri="{9D8B030D-6E8A-4147-A177-3AD203B41FA5}">
                      <a16:colId xmlns:a16="http://schemas.microsoft.com/office/drawing/2014/main" val="1820060432"/>
                    </a:ext>
                  </a:extLst>
                </a:gridCol>
              </a:tblGrid>
              <a:tr h="44033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 dirty="0">
                          <a:solidFill>
                            <a:schemeClr val="tx1"/>
                          </a:solidFill>
                          <a:effectLst/>
                        </a:rPr>
                        <a:t>フェーズ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 dirty="0">
                          <a:solidFill>
                            <a:schemeClr val="tx1"/>
                          </a:solidFill>
                          <a:effectLst/>
                        </a:rPr>
                        <a:t>① 課題認識・検索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② アプリ導入・検索</a:t>
                      </a:r>
                      <a:endParaRPr lang="ja-JP" altLang="en-US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③ 選定・購入決断</a:t>
                      </a:r>
                      <a:endParaRPr lang="ja-JP" altLang="en-US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④ プレイ・共有</a:t>
                      </a:r>
                      <a:endParaRPr lang="ja-JP" altLang="en-US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extLst>
                  <a:ext uri="{0D108BD9-81ED-4DB2-BD59-A6C34878D82A}">
                    <a16:rowId xmlns:a16="http://schemas.microsoft.com/office/drawing/2014/main" val="1736451650"/>
                  </a:ext>
                </a:extLst>
              </a:tr>
              <a:tr h="17405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行動</a:t>
                      </a:r>
                      <a:endParaRPr lang="ja-JP" altLang="en-US" sz="18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</a:t>
                      </a: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話題作を探すが情報過多で選べない。</a:t>
                      </a:r>
                      <a:b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ja-JP" altLang="en-US" sz="1400" u="sng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・過去の失敗（金と時間の無駄）を思い出して躊躇。</a:t>
                      </a:r>
                    </a:p>
                    <a:p>
                      <a:pPr rtl="0">
                        <a:buNone/>
                      </a:pPr>
                      <a:endParaRPr lang="ja-JP" altLang="en-US" sz="1400" u="sng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・仕事が忙しくリサーチが面倒。</a:t>
                      </a:r>
                      <a:endParaRPr lang="ja-JP" altLang="en-US" sz="1400" u="sng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・アプリにアクセス。</a:t>
                      </a:r>
                      <a:b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・「サバイバル」「自由度高い」</a:t>
                      </a:r>
                    </a:p>
                    <a:p>
                      <a:pPr rtl="0">
                        <a:buNone/>
                      </a:pP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・人気順でソート。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・グラフィックを確認。</a:t>
                      </a:r>
                    </a:p>
                    <a:p>
                      <a:pPr rtl="0">
                        <a:buNone/>
                      </a:pP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・年代順で最新作と確認し購入。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・好みにドンピシャなゲームだった。</a:t>
                      </a:r>
                    </a:p>
                    <a:p>
                      <a:pPr rtl="0">
                        <a:buNone/>
                      </a:pP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・無駄なく週末に没頭。</a:t>
                      </a:r>
                    </a:p>
                    <a:p>
                      <a:pPr rtl="0">
                        <a:buNone/>
                      </a:pP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・友人や</a:t>
                      </a:r>
                      <a:r>
                        <a:rPr lang="en-US" altLang="ja-JP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SNS</a:t>
                      </a: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で話題を共有。</a:t>
                      </a:r>
                      <a:endParaRPr lang="en-US" altLang="ja-JP" sz="1400" u="sng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endParaRPr lang="ja-JP" altLang="en-US" sz="1400" u="sng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・「次もこのアプリで」と思う</a:t>
                      </a: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extLst>
                  <a:ext uri="{0D108BD9-81ED-4DB2-BD59-A6C34878D82A}">
                    <a16:rowId xmlns:a16="http://schemas.microsoft.com/office/drawing/2014/main" val="2723914930"/>
                  </a:ext>
                </a:extLst>
              </a:tr>
              <a:tr h="10084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感情</a:t>
                      </a:r>
                      <a:endParaRPr lang="ja-JP" altLang="en-US" sz="18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 dirty="0">
                          <a:solidFill>
                            <a:schemeClr val="tx1"/>
                          </a:solidFill>
                          <a:effectLst/>
                        </a:rPr>
                        <a:t>　　　　　（不満・不安）</a:t>
                      </a:r>
                      <a:b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「またクソゲー引いたら嫌だな</a:t>
                      </a:r>
                      <a:r>
                        <a:rPr lang="en-US" altLang="ja-JP" sz="1400" cap="none" spc="0" dirty="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r>
                        <a:rPr lang="en-US" altLang="ja-JP" sz="1400" cap="none" spc="0" dirty="0">
                          <a:solidFill>
                            <a:schemeClr val="tx1"/>
                          </a:solidFill>
                          <a:effectLst/>
                        </a:rPr>
                        <a:t>3000</a:t>
                      </a: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円もドブに捨てたくない。」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 dirty="0">
                          <a:solidFill>
                            <a:schemeClr val="tx1"/>
                          </a:solidFill>
                          <a:effectLst/>
                        </a:rPr>
                        <a:t>　　　　　　（期待）</a:t>
                      </a:r>
                      <a:b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「これなら効率よく探せそう。人気順で見れるのは助かる。」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 dirty="0">
                          <a:solidFill>
                            <a:schemeClr val="tx1"/>
                          </a:solidFill>
                          <a:effectLst/>
                        </a:rPr>
                        <a:t>　　　　（納得・安心）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「これこれ！俺がやりたいジャンルのゲームある？！これにしよう</a:t>
                      </a:r>
                      <a:r>
                        <a:rPr lang="en-US" altLang="ja-JP" sz="1400" cap="none" spc="0" dirty="0">
                          <a:solidFill>
                            <a:schemeClr val="tx1"/>
                          </a:solidFill>
                          <a:effectLst/>
                        </a:rPr>
                        <a:t>!</a:t>
                      </a: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」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 dirty="0">
                          <a:solidFill>
                            <a:schemeClr val="tx1"/>
                          </a:solidFill>
                          <a:effectLst/>
                        </a:rPr>
                        <a:t>　　　　　（満足・歓喜）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「最高！時間を無駄にせず当たりを引けた。コスパもタイパも良い。」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extLst>
                  <a:ext uri="{0D108BD9-81ED-4DB2-BD59-A6C34878D82A}">
                    <a16:rowId xmlns:a16="http://schemas.microsoft.com/office/drawing/2014/main" val="568480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インサイト</a:t>
                      </a:r>
                      <a:endParaRPr lang="ja-JP" altLang="en-US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</a:t>
                      </a:r>
                      <a:r>
                        <a:rPr lang="en-US" altLang="ja-JP" sz="1400" cap="none" spc="0" dirty="0">
                          <a:solidFill>
                            <a:schemeClr val="tx1"/>
                          </a:solidFill>
                          <a:effectLst/>
                        </a:rPr>
                        <a:t>SNS</a:t>
                      </a: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のおすすめ＝自分への正解とは限らない。</a:t>
                      </a: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・失敗経験が新しいゲームへのハードルになっている。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・「効率重視」には情報の網羅より「絞り込み」が必要。</a:t>
                      </a: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・好みの系統を軸にできるかが鍵。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・「楽しいかわからない」不安の解消が購入の決め手。</a:t>
                      </a: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・人気順は失敗しないための安心材料。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・ゲームこそ「合う」が大事。</a:t>
                      </a: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・共通の話題が充足感。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extLst>
                  <a:ext uri="{0D108BD9-81ED-4DB2-BD59-A6C34878D82A}">
                    <a16:rowId xmlns:a16="http://schemas.microsoft.com/office/drawing/2014/main" val="3512955329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9488F3B-553C-0D33-8AA4-F8CE8F02D852}"/>
              </a:ext>
            </a:extLst>
          </p:cNvPr>
          <p:cNvSpPr txBox="1"/>
          <p:nvPr/>
        </p:nvSpPr>
        <p:spPr>
          <a:xfrm>
            <a:off x="4283490" y="67628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/>
              <a:t>ストーリーボード</a:t>
            </a:r>
          </a:p>
        </p:txBody>
      </p:sp>
      <p:pic>
        <p:nvPicPr>
          <p:cNvPr id="4" name="グラフィックス 3" descr="悲しい顔 (塗りつぶしなし) 単色塗りつぶし">
            <a:extLst>
              <a:ext uri="{FF2B5EF4-FFF2-40B4-BE49-F238E27FC236}">
                <a16:creationId xmlns:a16="http://schemas.microsoft.com/office/drawing/2014/main" id="{211F5CF5-742F-1A07-2E9C-DF6FA6AFD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5288" y="3629346"/>
            <a:ext cx="446314" cy="446314"/>
          </a:xfrm>
          <a:prstGeom prst="rect">
            <a:avLst/>
          </a:prstGeom>
        </p:spPr>
      </p:pic>
      <p:pic>
        <p:nvPicPr>
          <p:cNvPr id="10" name="グラフィックス 9" descr="笑顔 (塗りつぶしなし) 単色塗りつぶし">
            <a:extLst>
              <a:ext uri="{FF2B5EF4-FFF2-40B4-BE49-F238E27FC236}">
                <a16:creationId xmlns:a16="http://schemas.microsoft.com/office/drawing/2014/main" id="{4B17D397-D23F-B7D0-C804-3F5025DC91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0496" y="3618460"/>
            <a:ext cx="457200" cy="457200"/>
          </a:xfrm>
          <a:prstGeom prst="rect">
            <a:avLst/>
          </a:prstGeom>
        </p:spPr>
      </p:pic>
      <p:pic>
        <p:nvPicPr>
          <p:cNvPr id="5" name="グラフィックス 4" descr="サングラスをかけた顔 (塗りつぶしなし) 単色塗りつぶし">
            <a:extLst>
              <a:ext uri="{FF2B5EF4-FFF2-40B4-BE49-F238E27FC236}">
                <a16:creationId xmlns:a16="http://schemas.microsoft.com/office/drawing/2014/main" id="{A829A64B-80B3-13C4-5DEC-68BF4E268C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2093" y="3574312"/>
            <a:ext cx="501348" cy="501348"/>
          </a:xfrm>
          <a:prstGeom prst="rect">
            <a:avLst/>
          </a:prstGeom>
        </p:spPr>
      </p:pic>
      <p:pic>
        <p:nvPicPr>
          <p:cNvPr id="6" name="グラフィックス 5" descr="面白い顔 (塗りつぶしなし) 単色塗りつぶし">
            <a:extLst>
              <a:ext uri="{FF2B5EF4-FFF2-40B4-BE49-F238E27FC236}">
                <a16:creationId xmlns:a16="http://schemas.microsoft.com/office/drawing/2014/main" id="{7B6568A3-DFE9-0E6B-44F3-026436B07C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77838" y="3574312"/>
            <a:ext cx="501348" cy="50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226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CFF6501F-7727-02CF-0C9D-68029EADD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99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A62F63-44C9-C90D-98CB-CAC2C82978CB}"/>
              </a:ext>
            </a:extLst>
          </p:cNvPr>
          <p:cNvSpPr txBox="1">
            <a:spLocks/>
          </p:cNvSpPr>
          <p:nvPr/>
        </p:nvSpPr>
        <p:spPr>
          <a:xfrm>
            <a:off x="260684" y="1343526"/>
            <a:ext cx="29718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/>
              <a:t>デモ動画</a:t>
            </a:r>
            <a:endParaRPr lang="ja-JP" altLang="en-US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6F0D6E-FA4D-65C1-FD23-66BABD6CAA7C}"/>
              </a:ext>
            </a:extLst>
          </p:cNvPr>
          <p:cNvSpPr txBox="1"/>
          <p:nvPr/>
        </p:nvSpPr>
        <p:spPr>
          <a:xfrm>
            <a:off x="1464783" y="3717394"/>
            <a:ext cx="8901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hlinkClick r:id="rId2"/>
              </a:rPr>
              <a:t>https://drive.google.com/file/d/1pCJEL2-gz9Bc5oOMvt7zbcINs2uu5EMr/view?usp=sharing</a:t>
            </a:r>
            <a:endParaRPr kumimoji="1" lang="en-US" altLang="ja-JP" b="1" dirty="0"/>
          </a:p>
          <a:p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200546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3DBE7A33-2F15-AD10-9F26-EE51BAF21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01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06D4B1F0-62FF-D731-5635-07F355E6B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24" y="0"/>
            <a:ext cx="10508351" cy="6858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919664-38F3-B74B-DDB8-98049AB0456A}"/>
              </a:ext>
            </a:extLst>
          </p:cNvPr>
          <p:cNvSpPr txBox="1"/>
          <p:nvPr/>
        </p:nvSpPr>
        <p:spPr>
          <a:xfrm>
            <a:off x="255814" y="119742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/>
              <a:t>システム構成図</a:t>
            </a:r>
          </a:p>
        </p:txBody>
      </p:sp>
    </p:spTree>
    <p:extLst>
      <p:ext uri="{BB962C8B-B14F-4D97-AF65-F5344CB8AC3E}">
        <p14:creationId xmlns:p14="http://schemas.microsoft.com/office/powerpoint/2010/main" val="762038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1CCC84A7-E913-2276-0B41-F753751C9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215"/>
            <a:ext cx="12192000" cy="6367569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B2374988-3D36-52D8-DE0D-DD837EEEA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42" y="625669"/>
            <a:ext cx="1627773" cy="9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0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110E6402-AA74-DB27-7DBD-9C6C4C255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9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1177</TotalTime>
  <Words>561</Words>
  <Application>Microsoft Office PowerPoint</Application>
  <PresentationFormat>ワイド画面</PresentationFormat>
  <Paragraphs>86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Google Sans Text</vt:lpstr>
      <vt:lpstr>ＭＳ Ｐ明朝</vt:lpstr>
      <vt:lpstr>游ゴシック</vt:lpstr>
      <vt:lpstr>游ゴシック Light</vt:lpstr>
      <vt:lpstr>Arial</vt:lpstr>
      <vt:lpstr>Office テーマ</vt:lpstr>
      <vt:lpstr>Game-Shiru(ゲムしる)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Kenshi Masaoka</dc:creator>
  <cp:lastModifiedBy>Yoshiki Dejima</cp:lastModifiedBy>
  <cp:revision>7</cp:revision>
  <dcterms:created xsi:type="dcterms:W3CDTF">2025-12-23T00:30:14Z</dcterms:created>
  <dcterms:modified xsi:type="dcterms:W3CDTF">2026-01-19T14:44:51Z</dcterms:modified>
</cp:coreProperties>
</file>